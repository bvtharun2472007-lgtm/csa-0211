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EBF25-E9A1-2776-4928-86AEC58564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2743200"/>
            <a:ext cx="9716729" cy="6858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NEWTIME "/>
              </a:rPr>
              <a:t>Distributed Border Surveillance System with Duplicate Detection and Secure Alert Processing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0E49A0-D63F-72F3-D6AE-C2B1AADB83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599" y="3886200"/>
            <a:ext cx="10338620" cy="1752600"/>
          </a:xfrm>
        </p:spPr>
        <p:txBody>
          <a:bodyPr>
            <a:normAutofit fontScale="70000" lnSpcReduction="20000"/>
          </a:bodyPr>
          <a:lstStyle/>
          <a:p>
            <a:r>
              <a:rPr lang="en-IN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Guided by:                                                                      Presented by </a:t>
            </a:r>
            <a:r>
              <a:rPr lang="en-IN" sz="3600" dirty="0"/>
              <a:t>: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Dr. S.K. SARAVANAN</a:t>
            </a:r>
            <a:r>
              <a:rPr lang="en-IN" dirty="0"/>
              <a:t>                                                          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B.V.THARUN(192525155)</a:t>
            </a:r>
          </a:p>
          <a:p>
            <a:r>
              <a:rPr lang="en-IN" dirty="0"/>
              <a:t>                                                                                                         </a:t>
            </a:r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D.DINESH REDDY(192525186)</a:t>
            </a:r>
          </a:p>
          <a:p>
            <a:endParaRPr lang="en-IN" dirty="0"/>
          </a:p>
        </p:txBody>
      </p:sp>
      <p:pic>
        <p:nvPicPr>
          <p:cNvPr id="5" name="Image 1">
            <a:extLst>
              <a:ext uri="{FF2B5EF4-FFF2-40B4-BE49-F238E27FC236}">
                <a16:creationId xmlns:a16="http://schemas.microsoft.com/office/drawing/2014/main" id="{328582F6-E42A-27AE-D512-1E29F947E034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42839" cy="1396181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055A7B-08F4-B460-A87B-DB5DB993F05C}"/>
              </a:ext>
            </a:extLst>
          </p:cNvPr>
          <p:cNvSpPr txBox="1"/>
          <p:nvPr/>
        </p:nvSpPr>
        <p:spPr>
          <a:xfrm>
            <a:off x="3588775" y="1668715"/>
            <a:ext cx="4977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New time roman"/>
              </a:rPr>
              <a:t>CSA-0211 C-PROGRAMMING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058063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2F7FF"/>
                </a:solidFill>
              </a:defRPr>
            </a:pPr>
            <a:r>
              <a:t>STEP 1 — IDENTIFY 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2011680" cy="914400"/>
          </a:xfrm>
          <a:prstGeom prst="roundRect">
            <a:avLst/>
          </a:prstGeom>
          <a:solidFill>
            <a:srgbClr val="2D5B80"/>
          </a:solidFill>
          <a:ln w="19050">
            <a:solidFill>
              <a:srgbClr val="43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STATION A</a:t>
            </a:r>
            <a:br/>
            <a:r>
              <a:t>DETECTS OBJECT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840480"/>
            <a:ext cx="2011680" cy="914400"/>
          </a:xfrm>
          <a:prstGeom prst="roundRect">
            <a:avLst/>
          </a:prstGeom>
          <a:solidFill>
            <a:srgbClr val="2D5B80"/>
          </a:solidFill>
          <a:ln w="19050">
            <a:solidFill>
              <a:srgbClr val="43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STATION B</a:t>
            </a:r>
            <a:br/>
            <a:r>
              <a:t>DETECTS OBJECT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2743200"/>
            <a:ext cx="2103120" cy="1371600"/>
          </a:xfrm>
          <a:prstGeom prst="roundRect">
            <a:avLst/>
          </a:prstGeom>
          <a:solidFill>
            <a:srgbClr val="5C4680"/>
          </a:solidFill>
          <a:ln w="19050">
            <a:solidFill>
              <a:srgbClr val="AF7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F2F7FF"/>
                </a:solidFill>
              </a:defRPr>
            </a:pPr>
            <a:r>
              <a:t>MULTIPLE</a:t>
            </a:r>
            <a:br/>
            <a:r>
              <a:t>OBJECT REPORTS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2560320"/>
            <a:ext cx="1143000" cy="594360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560320" y="3703320"/>
            <a:ext cx="1143000" cy="594360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040880" y="2743200"/>
            <a:ext cx="2194560" cy="1371600"/>
          </a:xfrm>
          <a:prstGeom prst="roundRect">
            <a:avLst/>
          </a:prstGeom>
          <a:solidFill>
            <a:srgbClr val="BE9141"/>
          </a:solidFill>
          <a:ln w="19050">
            <a:solidFill>
              <a:srgbClr val="EBB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SAME OBJECT</a:t>
            </a:r>
            <a:br/>
            <a:r>
              <a:t>NEARLY SAME TIME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97880" y="3429000"/>
            <a:ext cx="1097280" cy="0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875520" y="2743200"/>
            <a:ext cx="1737360" cy="1371600"/>
          </a:xfrm>
          <a:prstGeom prst="roundRect">
            <a:avLst/>
          </a:prstGeom>
          <a:solidFill>
            <a:srgbClr val="5C4680"/>
          </a:solidFill>
          <a:ln w="19050">
            <a:solidFill>
              <a:srgbClr val="AF7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2F7FF"/>
                </a:solidFill>
              </a:defRPr>
            </a:pPr>
            <a:r>
              <a:t>DUPLICATE</a:t>
            </a:r>
            <a:br/>
            <a:r>
              <a:t>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281160" y="3429000"/>
            <a:ext cx="548640" cy="0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59777"/>
                </a:solidFill>
              </a:defRPr>
            </a:pPr>
            <a:r>
              <a:t>PROBLEM → THE SYSTEM MAY COUNT ONE REAL OBJECT MORE THAN ONCE</a:t>
            </a:r>
          </a:p>
        </p:txBody>
      </p:sp>
      <p:pic>
        <p:nvPicPr>
          <p:cNvPr id="15" name="Picture 2" descr="SIMATS Admission">
            <a:extLst>
              <a:ext uri="{FF2B5EF4-FFF2-40B4-BE49-F238E27FC236}">
                <a16:creationId xmlns:a16="http://schemas.microsoft.com/office/drawing/2014/main" id="{7F91E96D-3D23-928C-C2F5-6E50A50AB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13" y="34636"/>
            <a:ext cx="1302327" cy="130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టెలికాలింగ్-and-బీపీవో-in-Nellore-with- Job Id : 668635 : Lokal App Jobs">
            <a:extLst>
              <a:ext uri="{FF2B5EF4-FFF2-40B4-BE49-F238E27FC236}">
                <a16:creationId xmlns:a16="http://schemas.microsoft.com/office/drawing/2014/main" id="{DEA26CB8-003D-32DC-805B-A9167BCFE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2709" y="219265"/>
            <a:ext cx="1463531" cy="93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2F7FF"/>
                </a:solidFill>
              </a:defRPr>
            </a:pPr>
            <a:r>
              <a:t>STEP 2 — COLLECT FEEDS IN PARALLEL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874519" cy="731520"/>
          </a:xfrm>
          <a:prstGeom prst="roundRect">
            <a:avLst/>
          </a:prstGeom>
          <a:solidFill>
            <a:srgbClr val="2D5B80"/>
          </a:solidFill>
          <a:ln w="19050">
            <a:solidFill>
              <a:srgbClr val="43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2F7FF"/>
                </a:solidFill>
              </a:defRPr>
            </a:pPr>
            <a:r>
              <a:t>STATION A</a:t>
            </a:r>
            <a:br/>
            <a:r>
              <a:t>FEED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234440"/>
            <a:ext cx="1691640" cy="731520"/>
          </a:xfrm>
          <a:prstGeom prst="roundRect">
            <a:avLst/>
          </a:prstGeom>
          <a:solidFill>
            <a:srgbClr val="359777"/>
          </a:solidFill>
          <a:ln w="19050">
            <a:solidFill>
              <a:srgbClr val="55D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2F7FF"/>
                </a:solidFill>
              </a:defRPr>
            </a:pPr>
            <a:r>
              <a:t>PTHREAD</a:t>
            </a:r>
            <a:br/>
            <a:r>
              <a:t>WORKER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68880" y="1600200"/>
            <a:ext cx="822960" cy="0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2743200"/>
            <a:ext cx="1874519" cy="731520"/>
          </a:xfrm>
          <a:prstGeom prst="roundRect">
            <a:avLst/>
          </a:prstGeom>
          <a:solidFill>
            <a:srgbClr val="2D5B80"/>
          </a:solidFill>
          <a:ln w="19050">
            <a:solidFill>
              <a:srgbClr val="43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2F7FF"/>
                </a:solidFill>
              </a:defRPr>
            </a:pPr>
            <a:r>
              <a:t>STATION B</a:t>
            </a:r>
            <a:br/>
            <a:r>
              <a:t>FEED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743200"/>
            <a:ext cx="1691640" cy="731520"/>
          </a:xfrm>
          <a:prstGeom prst="roundRect">
            <a:avLst/>
          </a:prstGeom>
          <a:solidFill>
            <a:srgbClr val="359777"/>
          </a:solidFill>
          <a:ln w="19050">
            <a:solidFill>
              <a:srgbClr val="55D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2F7FF"/>
                </a:solidFill>
              </a:defRPr>
            </a:pPr>
            <a:r>
              <a:t>PTHREAD</a:t>
            </a:r>
            <a:br/>
            <a:r>
              <a:t>WORKER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3108960"/>
            <a:ext cx="822960" cy="0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4251960"/>
            <a:ext cx="1874519" cy="731520"/>
          </a:xfrm>
          <a:prstGeom prst="roundRect">
            <a:avLst/>
          </a:prstGeom>
          <a:solidFill>
            <a:srgbClr val="2D5B80"/>
          </a:solidFill>
          <a:ln w="19050">
            <a:solidFill>
              <a:srgbClr val="43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2F7FF"/>
                </a:solidFill>
              </a:defRPr>
            </a:pPr>
            <a:r>
              <a:t>STATION C</a:t>
            </a:r>
            <a:br/>
            <a:r>
              <a:t>FEED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4251960"/>
            <a:ext cx="1691640" cy="731520"/>
          </a:xfrm>
          <a:prstGeom prst="roundRect">
            <a:avLst/>
          </a:prstGeom>
          <a:solidFill>
            <a:srgbClr val="359777"/>
          </a:solidFill>
          <a:ln w="19050">
            <a:solidFill>
              <a:srgbClr val="55D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2F7FF"/>
                </a:solidFill>
              </a:defRPr>
            </a:pPr>
            <a:r>
              <a:t>PTHREAD</a:t>
            </a:r>
            <a:br/>
            <a:r>
              <a:t>WORKER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68880" y="4617720"/>
            <a:ext cx="822960" cy="0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989320" y="2331720"/>
            <a:ext cx="2103120" cy="1737360"/>
          </a:xfrm>
          <a:prstGeom prst="roundRect">
            <a:avLst/>
          </a:prstGeom>
          <a:solidFill>
            <a:srgbClr val="5C4680"/>
          </a:solidFill>
          <a:ln w="19050">
            <a:solidFill>
              <a:srgbClr val="AF7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F2F7FF"/>
                </a:solidFill>
              </a:defRPr>
            </a:pPr>
            <a:r>
              <a:t>PTHREADS</a:t>
            </a:r>
            <a:br/>
            <a:br/>
            <a:r>
              <a:t>T1 + T2 + T3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74920" y="1600200"/>
            <a:ext cx="822960" cy="1143000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74920" y="3108960"/>
            <a:ext cx="822960" cy="0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074920" y="3657600"/>
            <a:ext cx="822960" cy="960120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89720" y="2788920"/>
            <a:ext cx="2148840" cy="1143000"/>
          </a:xfrm>
          <a:prstGeom prst="roundRect">
            <a:avLst/>
          </a:prstGeom>
          <a:solidFill>
            <a:srgbClr val="2D5B80"/>
          </a:solidFill>
          <a:ln w="19050">
            <a:solidFill>
              <a:srgbClr val="43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2F7FF"/>
                </a:solidFill>
              </a:defRPr>
            </a:pPr>
            <a:r>
              <a:t>COMMAND</a:t>
            </a:r>
            <a:br/>
            <a:r>
              <a:t>CENTER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83879" y="3200400"/>
            <a:ext cx="960121" cy="0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59777"/>
                </a:solidFill>
              </a:defRPr>
            </a:pPr>
            <a:r>
              <a:t>METHOD → PTHREADS HANDLE MANY STATION FEEDS WITHOUT WAITING FOR ONE FEED TO FINISH</a:t>
            </a:r>
          </a:p>
        </p:txBody>
      </p:sp>
      <p:pic>
        <p:nvPicPr>
          <p:cNvPr id="21" name="Picture 2" descr="SIMATS Admission">
            <a:extLst>
              <a:ext uri="{FF2B5EF4-FFF2-40B4-BE49-F238E27FC236}">
                <a16:creationId xmlns:a16="http://schemas.microsoft.com/office/drawing/2014/main" id="{B96D6E77-49AF-3E07-8867-951D86D97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084" y="-90747"/>
            <a:ext cx="1302327" cy="130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 descr="టెలికాలింగ్-and-బీపీవో-in-Nellore-with- Job Id : 668635 : Lokal App Jobs">
            <a:extLst>
              <a:ext uri="{FF2B5EF4-FFF2-40B4-BE49-F238E27FC236}">
                <a16:creationId xmlns:a16="http://schemas.microsoft.com/office/drawing/2014/main" id="{F5786DE9-8E90-46FF-4A28-840DC3D0E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1320" y="147485"/>
            <a:ext cx="1463531" cy="93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2F7FF"/>
                </a:solidFill>
              </a:defRPr>
            </a:pPr>
            <a:r>
              <a:t>STEP 3 — SEND &amp; REGISTER OBJECT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788920"/>
            <a:ext cx="1600200" cy="1005840"/>
          </a:xfrm>
          <a:prstGeom prst="roundRect">
            <a:avLst/>
          </a:prstGeom>
          <a:solidFill>
            <a:srgbClr val="2D5B80"/>
          </a:solidFill>
          <a:ln w="19050">
            <a:solidFill>
              <a:srgbClr val="43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STATION</a:t>
            </a:r>
            <a:br/>
            <a:r>
              <a:t>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94560" y="3291840"/>
            <a:ext cx="731520" cy="0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017520" y="2606040"/>
            <a:ext cx="1691640" cy="1371600"/>
          </a:xfrm>
          <a:prstGeom prst="roundRect">
            <a:avLst/>
          </a:prstGeom>
          <a:solidFill>
            <a:srgbClr val="5C4680"/>
          </a:solidFill>
          <a:ln w="19050">
            <a:solidFill>
              <a:srgbClr val="AF7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F2F7FF"/>
                </a:solidFill>
              </a:defRPr>
            </a:pPr>
            <a:r>
              <a:t>SOCKET</a:t>
            </a:r>
            <a:br/>
            <a:r>
              <a:t>TCP/IP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00600" y="3291840"/>
            <a:ext cx="594360" cy="0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0" y="2240280"/>
            <a:ext cx="2240280" cy="2057400"/>
          </a:xfrm>
          <a:prstGeom prst="roundRect">
            <a:avLst/>
          </a:prstGeom>
          <a:solidFill>
            <a:srgbClr val="359777"/>
          </a:solidFill>
          <a:ln w="19050">
            <a:solidFill>
              <a:srgbClr val="55D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REGISTER</a:t>
            </a:r>
            <a:br/>
            <a:r>
              <a:t>OBJECT</a:t>
            </a:r>
            <a:br/>
            <a:br/>
            <a:r>
              <a:t>struct</a:t>
            </a:r>
            <a:br/>
            <a:r>
              <a:t>pointer</a:t>
            </a:r>
            <a:br/>
            <a:r>
              <a:t>malloc()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18120" y="3291840"/>
            <a:ext cx="822960" cy="0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732520" y="2606040"/>
            <a:ext cx="2286000" cy="1371600"/>
          </a:xfrm>
          <a:prstGeom prst="roundRect">
            <a:avLst/>
          </a:prstGeom>
          <a:solidFill>
            <a:srgbClr val="2D5B80"/>
          </a:solidFill>
          <a:ln w="19050">
            <a:solidFill>
              <a:srgbClr val="43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2F7FF"/>
                </a:solidFill>
              </a:defRPr>
            </a:pPr>
            <a:r>
              <a:t>CENTRAL</a:t>
            </a:r>
            <a:br/>
            <a:r>
              <a:t>OBJECT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59777"/>
                </a:solidFill>
              </a:defRPr>
            </a:pPr>
            <a:r>
              <a:t>METHOD → SOCKETS TRANSFER DATA; DYNAMIC MEMORY CREATES RECORDS AS OBJECTS ARRIVE</a:t>
            </a:r>
          </a:p>
        </p:txBody>
      </p:sp>
      <p:pic>
        <p:nvPicPr>
          <p:cNvPr id="13" name="Picture 2" descr="SIMATS Admission">
            <a:extLst>
              <a:ext uri="{FF2B5EF4-FFF2-40B4-BE49-F238E27FC236}">
                <a16:creationId xmlns:a16="http://schemas.microsoft.com/office/drawing/2014/main" id="{6280B280-B3AE-1DE8-E6BE-72F85EB3A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084" y="-65331"/>
            <a:ext cx="1302327" cy="130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టెలికాలింగ్-and-బీపీవో-in-Nellore-with- Job Id : 668635 : Lokal App Jobs">
            <a:extLst>
              <a:ext uri="{FF2B5EF4-FFF2-40B4-BE49-F238E27FC236}">
                <a16:creationId xmlns:a16="http://schemas.microsoft.com/office/drawing/2014/main" id="{BC14E91E-9885-F73C-B04F-660604AA5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2709" y="109158"/>
            <a:ext cx="1463531" cy="93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2F7FF"/>
                </a:solidFill>
              </a:defRPr>
            </a:pPr>
            <a:r>
              <a:t>STEP 4 — CLASSIFY &amp; REMOVE DUPLICATES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88920"/>
            <a:ext cx="1554480" cy="1005840"/>
          </a:xfrm>
          <a:prstGeom prst="roundRect">
            <a:avLst/>
          </a:prstGeom>
          <a:solidFill>
            <a:srgbClr val="2D5B80"/>
          </a:solidFill>
          <a:ln w="19050">
            <a:solidFill>
              <a:srgbClr val="43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OBJECT</a:t>
            </a:r>
            <a:br/>
            <a:r>
              <a:t>RECORD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03120" y="3291840"/>
            <a:ext cx="640080" cy="0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34640" y="2514600"/>
            <a:ext cx="1920240" cy="1554480"/>
          </a:xfrm>
          <a:prstGeom prst="roundRect">
            <a:avLst/>
          </a:prstGeom>
          <a:solidFill>
            <a:srgbClr val="359777"/>
          </a:solidFill>
          <a:ln w="19050">
            <a:solidFill>
              <a:srgbClr val="55D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2F7FF"/>
                </a:solidFill>
              </a:defRPr>
            </a:pPr>
            <a:r>
              <a:t>CLASSIFY</a:t>
            </a:r>
            <a:br/>
            <a:br/>
            <a:r>
              <a:t>ID • TYPE</a:t>
            </a:r>
            <a:br/>
            <a:r>
              <a:t>LOCATION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46320" y="3291840"/>
            <a:ext cx="640080" cy="0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577840" y="2423160"/>
            <a:ext cx="2286000" cy="1737360"/>
          </a:xfrm>
          <a:prstGeom prst="roundRect">
            <a:avLst/>
          </a:prstGeom>
          <a:solidFill>
            <a:srgbClr val="BE9141"/>
          </a:solidFill>
          <a:ln w="19050">
            <a:solidFill>
              <a:srgbClr val="EBB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2F7FF"/>
                </a:solidFill>
              </a:defRPr>
            </a:pPr>
            <a:r>
              <a:t>DUPLICATE</a:t>
            </a:r>
            <a:br/>
            <a:r>
              <a:t>CHECK</a:t>
            </a:r>
            <a:br/>
            <a:br/>
            <a:r>
              <a:t>ID + LOCATION</a:t>
            </a:r>
            <a:br/>
            <a:r>
              <a:t>+ TIME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909560" y="2011680"/>
            <a:ext cx="548640" cy="960120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909560" y="3657600"/>
            <a:ext cx="548640" cy="822960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1463040"/>
            <a:ext cx="2194560" cy="1097280"/>
          </a:xfrm>
          <a:prstGeom prst="roundRect">
            <a:avLst/>
          </a:prstGeom>
          <a:solidFill>
            <a:srgbClr val="359777"/>
          </a:solidFill>
          <a:ln w="19050">
            <a:solidFill>
              <a:srgbClr val="55D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YES → MERGE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4160520"/>
            <a:ext cx="2194560" cy="1097280"/>
          </a:xfrm>
          <a:prstGeom prst="roundRect">
            <a:avLst/>
          </a:prstGeom>
          <a:solidFill>
            <a:srgbClr val="2D5B80"/>
          </a:solidFill>
          <a:ln w="19050">
            <a:solidFill>
              <a:srgbClr val="43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2F7FF"/>
                </a:solidFill>
              </a:defRPr>
            </a:pPr>
            <a:r>
              <a:t>NO → NEW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59777"/>
                </a:solidFill>
              </a:defRPr>
            </a:pPr>
            <a:r>
              <a:t>KEY SOLUTION → TWO NEAR-SIMULTANEOUS REPORTS ARE MATCHED AND MERGED INTO ONE RECORD</a:t>
            </a:r>
          </a:p>
        </p:txBody>
      </p:sp>
      <p:pic>
        <p:nvPicPr>
          <p:cNvPr id="15" name="Picture 2" descr="SIMATS Admission">
            <a:extLst>
              <a:ext uri="{FF2B5EF4-FFF2-40B4-BE49-F238E27FC236}">
                <a16:creationId xmlns:a16="http://schemas.microsoft.com/office/drawing/2014/main" id="{D4E27A15-BB1F-D3F5-5931-4400833F3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13" y="-3879"/>
            <a:ext cx="1302327" cy="130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టెలికాలింగ్-and-బీపీవో-in-Nellore-with- Job Id : 668635 : Lokal App Jobs">
            <a:extLst>
              <a:ext uri="{FF2B5EF4-FFF2-40B4-BE49-F238E27FC236}">
                <a16:creationId xmlns:a16="http://schemas.microsoft.com/office/drawing/2014/main" id="{6CDEBE37-3C7D-3084-E89E-D3EE19C6B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1320" y="147485"/>
            <a:ext cx="1463531" cy="93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2F7FF"/>
                </a:solidFill>
              </a:defRPr>
            </a:pPr>
            <a:r>
              <a:t>STEP 5 — SEARCH ZONES &amp; SAFELY UPDATE DATABASE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09160" y="822960"/>
            <a:ext cx="2468880" cy="640080"/>
          </a:xfrm>
          <a:prstGeom prst="roundRect">
            <a:avLst/>
          </a:prstGeom>
          <a:solidFill>
            <a:srgbClr val="2D5B80"/>
          </a:solidFill>
          <a:ln w="19050">
            <a:solidFill>
              <a:srgbClr val="43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BORDER REGION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828800"/>
            <a:ext cx="1737360" cy="640080"/>
          </a:xfrm>
          <a:prstGeom prst="roundRect">
            <a:avLst/>
          </a:prstGeom>
          <a:solidFill>
            <a:srgbClr val="5C4680"/>
          </a:solidFill>
          <a:ln w="19050">
            <a:solidFill>
              <a:srgbClr val="AF7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2F7FF"/>
                </a:solidFill>
              </a:defRPr>
            </a:pPr>
            <a:r>
              <a:t>ZONE A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2011680" y="1508760"/>
            <a:ext cx="3931920" cy="274320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709160" y="1828800"/>
            <a:ext cx="1737360" cy="640080"/>
          </a:xfrm>
          <a:prstGeom prst="roundRect">
            <a:avLst/>
          </a:prstGeom>
          <a:solidFill>
            <a:srgbClr val="5C4680"/>
          </a:solidFill>
          <a:ln w="19050">
            <a:solidFill>
              <a:srgbClr val="AF7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2F7FF"/>
                </a:solidFill>
              </a:defRPr>
            </a:pPr>
            <a:r>
              <a:t>ZONE B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5577840" y="1508760"/>
            <a:ext cx="365760" cy="274320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75320" y="1828800"/>
            <a:ext cx="1737360" cy="640080"/>
          </a:xfrm>
          <a:prstGeom prst="roundRect">
            <a:avLst/>
          </a:prstGeom>
          <a:solidFill>
            <a:srgbClr val="5C4680"/>
          </a:solidFill>
          <a:ln w="19050">
            <a:solidFill>
              <a:srgbClr val="AF7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2F7FF"/>
                </a:solidFill>
              </a:defRPr>
            </a:pPr>
            <a:r>
              <a:t>ZONE 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0" y="1508760"/>
            <a:ext cx="3200400" cy="274320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3063240"/>
            <a:ext cx="1234440" cy="594360"/>
          </a:xfrm>
          <a:prstGeom prst="roundRect">
            <a:avLst/>
          </a:prstGeom>
          <a:solidFill>
            <a:srgbClr val="2D5B80"/>
          </a:solidFill>
          <a:ln w="19050">
            <a:solidFill>
              <a:srgbClr val="43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2F7FF"/>
                </a:solidFill>
              </a:defRPr>
            </a:pPr>
            <a:r>
              <a:t>A1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36192" y="2487168"/>
            <a:ext cx="0" cy="530352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331720" y="3063240"/>
            <a:ext cx="1234440" cy="594360"/>
          </a:xfrm>
          <a:prstGeom prst="roundRect">
            <a:avLst/>
          </a:prstGeom>
          <a:solidFill>
            <a:srgbClr val="2D5B80"/>
          </a:solidFill>
          <a:ln w="19050">
            <a:solidFill>
              <a:srgbClr val="43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2F7FF"/>
                </a:solidFill>
              </a:defRPr>
            </a:pPr>
            <a:r>
              <a:t>A2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53512" y="2487168"/>
            <a:ext cx="0" cy="530352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89120" y="3063240"/>
            <a:ext cx="1234440" cy="594360"/>
          </a:xfrm>
          <a:prstGeom prst="roundRect">
            <a:avLst/>
          </a:prstGeom>
          <a:solidFill>
            <a:srgbClr val="2D5B80"/>
          </a:solidFill>
          <a:ln w="19050">
            <a:solidFill>
              <a:srgbClr val="43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2F7FF"/>
                </a:solidFill>
              </a:defRPr>
            </a:pPr>
            <a:r>
              <a:t>B1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10912" y="2487168"/>
            <a:ext cx="0" cy="530352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806440" y="3063240"/>
            <a:ext cx="1234440" cy="594360"/>
          </a:xfrm>
          <a:prstGeom prst="roundRect">
            <a:avLst/>
          </a:prstGeom>
          <a:solidFill>
            <a:srgbClr val="2D5B80"/>
          </a:solidFill>
          <a:ln w="19050">
            <a:solidFill>
              <a:srgbClr val="43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2F7FF"/>
                </a:solidFill>
              </a:defRPr>
            </a:pPr>
            <a:r>
              <a:t>B2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28231" y="2487168"/>
            <a:ext cx="0" cy="530352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909560" y="3063240"/>
            <a:ext cx="1234440" cy="594360"/>
          </a:xfrm>
          <a:prstGeom prst="roundRect">
            <a:avLst/>
          </a:prstGeom>
          <a:solidFill>
            <a:srgbClr val="2D5B80"/>
          </a:solidFill>
          <a:ln w="19050">
            <a:solidFill>
              <a:srgbClr val="43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2F7FF"/>
                </a:solidFill>
              </a:defRPr>
            </a:pPr>
            <a:r>
              <a:t>C1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31352" y="2487168"/>
            <a:ext cx="0" cy="530352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326880" y="3063240"/>
            <a:ext cx="1234440" cy="594360"/>
          </a:xfrm>
          <a:prstGeom prst="roundRect">
            <a:avLst/>
          </a:prstGeom>
          <a:solidFill>
            <a:srgbClr val="2D5B80"/>
          </a:solidFill>
          <a:ln w="19050">
            <a:solidFill>
              <a:srgbClr val="43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2F7FF"/>
                </a:solidFill>
              </a:defRPr>
            </a:pPr>
            <a:r>
              <a:t>C2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948672" y="2487168"/>
            <a:ext cx="0" cy="530352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337560" y="4572000"/>
            <a:ext cx="2286000" cy="914400"/>
          </a:xfrm>
          <a:prstGeom prst="roundRect">
            <a:avLst/>
          </a:prstGeom>
          <a:solidFill>
            <a:srgbClr val="5C4680"/>
          </a:solidFill>
          <a:ln w="19050">
            <a:solidFill>
              <a:srgbClr val="AF7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2F7FF"/>
                </a:solidFill>
              </a:defRPr>
            </a:pPr>
            <a:r>
              <a:t>RECURSION</a:t>
            </a:r>
            <a:br/>
            <a:r>
              <a:t>PARENT → CHILD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572000"/>
            <a:ext cx="2286000" cy="914400"/>
          </a:xfrm>
          <a:prstGeom prst="roundRect">
            <a:avLst/>
          </a:prstGeom>
          <a:solidFill>
            <a:srgbClr val="BE9141"/>
          </a:solidFill>
          <a:ln w="19050">
            <a:solidFill>
              <a:srgbClr val="EBB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2F7FF"/>
                </a:solidFill>
              </a:defRPr>
            </a:pPr>
            <a:r>
              <a:t>MUTEX LOCK</a:t>
            </a:r>
            <a:br/>
            <a:r>
              <a:t>SAFE DB UPDATE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715000" y="5029200"/>
            <a:ext cx="731520" cy="0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59777"/>
                </a:solidFill>
              </a:defRPr>
            </a:pPr>
            <a:r>
              <a:t>METHOD → RECURSION VISITS HIERARCHICAL ZONES; MUTEX PREVENTS CONCURRENT DATABASE CONFLICTS</a:t>
            </a:r>
          </a:p>
        </p:txBody>
      </p:sp>
      <p:pic>
        <p:nvPicPr>
          <p:cNvPr id="28" name="Picture 2" descr="SIMATS Admission">
            <a:extLst>
              <a:ext uri="{FF2B5EF4-FFF2-40B4-BE49-F238E27FC236}">
                <a16:creationId xmlns:a16="http://schemas.microsoft.com/office/drawing/2014/main" id="{53011A52-4A4F-F618-F936-792B95A5D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13" y="-3879"/>
            <a:ext cx="1302327" cy="130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9" descr="టెలికాలింగ్-and-బీపీవో-in-Nellore-with- Job Id : 668635 : Lokal App Jobs">
            <a:extLst>
              <a:ext uri="{FF2B5EF4-FFF2-40B4-BE49-F238E27FC236}">
                <a16:creationId xmlns:a16="http://schemas.microsoft.com/office/drawing/2014/main" id="{65FEB1ED-1D56-62CD-1479-C27ABAF29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4160" y="147485"/>
            <a:ext cx="1463531" cy="93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2F7FF"/>
                </a:solidFill>
              </a:defRPr>
            </a:pPr>
            <a:r>
              <a:t>STEP 6 — LOG, ALERT &amp; FINAL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651760"/>
            <a:ext cx="1417320" cy="1051560"/>
          </a:xfrm>
          <a:prstGeom prst="roundRect">
            <a:avLst/>
          </a:prstGeom>
          <a:solidFill>
            <a:srgbClr val="359777"/>
          </a:solidFill>
          <a:ln w="19050">
            <a:solidFill>
              <a:srgbClr val="55D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2F7FF"/>
                </a:solidFill>
              </a:defRPr>
            </a:pPr>
            <a:r>
              <a:t>ONE</a:t>
            </a:r>
            <a:br/>
            <a:r>
              <a:t>CONSISTENT</a:t>
            </a:r>
            <a:br/>
            <a:r>
              <a:t>RECORD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20240" y="3182112"/>
            <a:ext cx="594360" cy="0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606040" y="2560320"/>
            <a:ext cx="1645920" cy="1280160"/>
          </a:xfrm>
          <a:prstGeom prst="roundRect">
            <a:avLst/>
          </a:prstGeom>
          <a:solidFill>
            <a:srgbClr val="2D5B80"/>
          </a:solidFill>
          <a:ln w="19050">
            <a:solidFill>
              <a:srgbClr val="43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2F7FF"/>
                </a:solidFill>
              </a:defRPr>
            </a:pPr>
            <a:r>
              <a:t>CENTRAL</a:t>
            </a:r>
            <a:br/>
            <a:r>
              <a:t>OBJECT DB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43400" y="3182112"/>
            <a:ext cx="548640" cy="0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983480" y="1417320"/>
            <a:ext cx="1645920" cy="1051560"/>
          </a:xfrm>
          <a:prstGeom prst="roundRect">
            <a:avLst/>
          </a:prstGeom>
          <a:solidFill>
            <a:srgbClr val="5C4680"/>
          </a:solidFill>
          <a:ln w="19050">
            <a:solidFill>
              <a:srgbClr val="AF7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2F7FF"/>
                </a:solidFill>
              </a:defRPr>
            </a:pPr>
            <a:r>
              <a:t>FILE LOG</a:t>
            </a:r>
            <a:br/>
            <a:r>
              <a:t>SURVEILLANCE.LOG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3977639"/>
            <a:ext cx="1645920" cy="1051560"/>
          </a:xfrm>
          <a:prstGeom prst="roundRect">
            <a:avLst/>
          </a:prstGeom>
          <a:solidFill>
            <a:srgbClr val="BE9141"/>
          </a:solidFill>
          <a:ln w="19050">
            <a:solidFill>
              <a:srgbClr val="EBB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2F7FF"/>
                </a:solidFill>
              </a:defRPr>
            </a:pPr>
            <a:r>
              <a:t>IPC</a:t>
            </a:r>
            <a:br/>
            <a:r>
              <a:t>ALERT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5806440" y="2487168"/>
            <a:ext cx="0" cy="73152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806440" y="3337560"/>
            <a:ext cx="0" cy="640079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086600" y="2651760"/>
            <a:ext cx="1645920" cy="1051560"/>
          </a:xfrm>
          <a:prstGeom prst="roundRect">
            <a:avLst/>
          </a:prstGeom>
          <a:solidFill>
            <a:srgbClr val="5C4680"/>
          </a:solidFill>
          <a:ln w="19050">
            <a:solidFill>
              <a:srgbClr val="AF7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2F7FF"/>
                </a:solidFill>
              </a:defRPr>
            </a:pPr>
            <a:r>
              <a:t>RESPONSE</a:t>
            </a:r>
            <a:br/>
            <a:r>
              <a:t>PROCESS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675120" y="3703320"/>
            <a:ext cx="640080" cy="795528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89720" y="1874519"/>
            <a:ext cx="2423160" cy="2606040"/>
          </a:xfrm>
          <a:prstGeom prst="roundRect">
            <a:avLst/>
          </a:prstGeom>
          <a:solidFill>
            <a:srgbClr val="359777"/>
          </a:solidFill>
          <a:ln w="19050">
            <a:solidFill>
              <a:srgbClr val="55D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2F7FF"/>
                </a:solidFill>
              </a:defRPr>
            </a:pPr>
            <a:r>
              <a:t>FINAL SOLUTION</a:t>
            </a:r>
            <a:br/>
            <a:br/>
            <a:r>
              <a:t>✓ ONE OBJECT = ONE RECORD</a:t>
            </a:r>
            <a:br/>
            <a:r>
              <a:t>✓ NO DUPLICATE COUNT</a:t>
            </a:r>
            <a:br/>
            <a:r>
              <a:t>✓ SAFE MULTI-THREADING</a:t>
            </a:r>
            <a:br/>
            <a:r>
              <a:t>✓ LOGGED EVENTS</a:t>
            </a:r>
            <a:br/>
            <a:r>
              <a:t>✓ ALERT + RESPONSE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78240" y="3182112"/>
            <a:ext cx="365760" cy="0"/>
          </a:xfrm>
          <a:prstGeom prst="line">
            <a:avLst/>
          </a:prstGeom>
          <a:ln w="27940">
            <a:solidFill>
              <a:srgbClr val="4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59777"/>
                </a:solidFill>
              </a:defRPr>
            </a:pPr>
            <a:r>
              <a:t>FINAL CONNECTION → DETECT → RECEIVE → REGISTER → DEDUPLICATE → SYNCHRONIZE → LOG/ALERT → RESPOND</a:t>
            </a:r>
          </a:p>
        </p:txBody>
      </p:sp>
      <p:pic>
        <p:nvPicPr>
          <p:cNvPr id="18" name="Picture 2" descr="SIMATS Admission">
            <a:extLst>
              <a:ext uri="{FF2B5EF4-FFF2-40B4-BE49-F238E27FC236}">
                <a16:creationId xmlns:a16="http://schemas.microsoft.com/office/drawing/2014/main" id="{0CAA5E4F-CF83-CEAF-A2A0-DE8D668BD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13" y="-3879"/>
            <a:ext cx="1302327" cy="130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టెలికాలింగ్-and-బీపీవో-in-Nellore-with- Job Id : 668635 : Lokal App Jobs">
            <a:extLst>
              <a:ext uri="{FF2B5EF4-FFF2-40B4-BE49-F238E27FC236}">
                <a16:creationId xmlns:a16="http://schemas.microsoft.com/office/drawing/2014/main" id="{080080CF-039C-18D5-75D9-80109953E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4843" y="104775"/>
            <a:ext cx="1463531" cy="93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353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New time roman</vt:lpstr>
      <vt:lpstr>NEWTIME </vt:lpstr>
      <vt:lpstr>Office Theme</vt:lpstr>
      <vt:lpstr>Distributed Border Surveillance System with Duplicate Detection and Secure Alert Processing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bv tharun</dc:creator>
  <cp:keywords/>
  <dc:description>generated using python-pptx</dc:description>
  <cp:lastModifiedBy>bv tharun</cp:lastModifiedBy>
  <cp:revision>2</cp:revision>
  <dcterms:created xsi:type="dcterms:W3CDTF">2013-01-27T09:14:16Z</dcterms:created>
  <dcterms:modified xsi:type="dcterms:W3CDTF">2026-09-01T14:24:06Z</dcterms:modified>
  <cp:category/>
</cp:coreProperties>
</file>